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B99B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B99BB"/>
                </a:solidFill>
                <a:latin typeface="Arial"/>
              </a:rPr>
              <a:t>Weekly Searches (Growing 34% per month)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Searches</c:v>
                </c:pt>
              </c:strCache>
            </c:strRef>
          </c:tx>
          <c:spPr>
            <a:solidFill>
              <a:srgbClr val="4F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  <c:pt idx="4">
                    <c:v>Week 5</c:v>
                  </c:pt>
                  <c:pt idx="5">
                    <c:v>Week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210</c:v>
                </c:pt>
                <c:pt idx="2">
                  <c:v>380</c:v>
                </c:pt>
                <c:pt idx="3">
                  <c:v>520</c:v>
                </c:pt>
                <c:pt idx="4">
                  <c:v>780</c:v>
                </c:pt>
                <c:pt idx="5">
                  <c:v>1050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9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6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9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366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274320"/>
            <a:ext cx="2011680" cy="2011680"/>
          </a:xfrm>
          <a:prstGeom prst="ellipse">
            <a:avLst/>
          </a:prstGeom>
          <a:solidFill>
            <a:srgbClr val="4F7CFF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" y="-91440"/>
            <a:ext cx="2011680" cy="2011680"/>
          </a:xfrm>
          <a:prstGeom prst="ellipse">
            <a:avLst/>
          </a:prstGeom>
          <a:solidFill>
            <a:srgbClr val="7B5DFA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474720"/>
            <a:ext cx="2560320" cy="2560320"/>
          </a:xfrm>
          <a:prstGeom prst="ellipse">
            <a:avLst/>
          </a:prstGeom>
          <a:solidFill>
            <a:srgbClr val="00D4A8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3657600"/>
            <a:ext cx="1828800" cy="1828800"/>
          </a:xfrm>
          <a:prstGeom prst="ellipse">
            <a:avLst/>
          </a:prstGeom>
          <a:solidFill>
            <a:srgbClr val="4F7CFF"/>
          </a:solidFill>
          <a:ln/>
        </p:spPr>
      </p:sp>
      <p:sp>
        <p:nvSpPr>
          <p:cNvPr id="6" name="Shape 4"/>
          <p:cNvSpPr/>
          <p:nvPr/>
        </p:nvSpPr>
        <p:spPr>
          <a:xfrm>
            <a:off x="-182880" y="-182880"/>
            <a:ext cx="1828800" cy="1828800"/>
          </a:xfrm>
          <a:prstGeom prst="ellipse">
            <a:avLst/>
          </a:prstGeom>
          <a:solidFill>
            <a:srgbClr val="4F7CF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89520" y="3566160"/>
            <a:ext cx="2194560" cy="2194560"/>
          </a:xfrm>
          <a:prstGeom prst="ellipse">
            <a:avLst/>
          </a:prstGeom>
          <a:solidFill>
            <a:srgbClr val="00D4A8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502920"/>
            <a:ext cx="2377440" cy="292608"/>
          </a:xfrm>
          <a:prstGeom prst="rect">
            <a:avLst/>
          </a:prstGeom>
          <a:solidFill>
            <a:srgbClr val="4F7CFF">
              <a:alpha val="45000"/>
            </a:srgbClr>
          </a:solidFill>
          <a:ln w="8890">
            <a:solidFill>
              <a:srgbClr val="4F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SEMINAR 2026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pPr indent="0" marL="0">
              <a:buNone/>
            </a:pPr>
            <a:r>
              <a:rPr lang="en-US" sz="72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Video Insights Platform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recordings into searchable, queryable knowledge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E3666"/>
          </a:solidFill>
          <a:ln w="10160">
            <a:solidFill>
              <a:srgbClr val="4F7CFF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37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65960" y="333756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E3666"/>
          </a:solidFill>
          <a:ln w="10160">
            <a:solidFill>
              <a:srgbClr val="4F7CFF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3337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333756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E3666"/>
          </a:solidFill>
          <a:ln w="10160">
            <a:solidFill>
              <a:srgbClr val="4F7CFF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337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83480" y="333756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E3666"/>
          </a:solidFill>
          <a:ln w="10160">
            <a:solidFill>
              <a:srgbClr val="4F7CFF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337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trapped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recordings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record hours of valuable sessions — training, tech talks, all-hands — then never go back.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disappears. Onboarding repeats. Decisions get forgotten.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46320" y="822960"/>
            <a:ext cx="3931920" cy="109728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87568" y="932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unwatched video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87568" y="1325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47-min average session · 0% rewatch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2148840"/>
            <a:ext cx="3931920" cy="109728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87568" y="2258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 across recordings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87568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find that 'Kafka decision' from last month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474720"/>
            <a:ext cx="3931920" cy="109728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639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87568" y="3584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repeated every cycle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87568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onboarding topics re-recorded quarterly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VideoIQ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recording → get searchable insights, AI summaries,</a:t>
            </a:r>
            <a:endParaRPr lang="en-US" sz="14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items, and a queryable knowledge base — in minutes.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828800" cy="21488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697480"/>
            <a:ext cx="640080" cy="640080"/>
          </a:xfrm>
          <a:prstGeom prst="ellipse">
            <a:avLst/>
          </a:prstGeom>
          <a:solidFill>
            <a:srgbClr val="4F7CF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80390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Whisper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leaves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514600"/>
            <a:ext cx="1828800" cy="21488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697480"/>
            <a:ext cx="640080" cy="640080"/>
          </a:xfrm>
          <a:prstGeom prst="ellipse">
            <a:avLst/>
          </a:prstGeom>
          <a:solidFill>
            <a:srgbClr val="7B5DFA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0604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6040" y="380390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+ extract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514600"/>
            <a:ext cx="1828800" cy="21488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57800" y="2697480"/>
            <a:ext cx="640080" cy="640080"/>
          </a:xfrm>
          <a:prstGeom prst="ellipse">
            <a:avLst/>
          </a:prstGeom>
          <a:solidFill>
            <a:srgbClr val="00D4A8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380390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across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recordings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2514600"/>
            <a:ext cx="1828800" cy="21488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2697480"/>
            <a:ext cx="640080" cy="640080"/>
          </a:xfrm>
          <a:prstGeom prst="ellipse">
            <a:avLst/>
          </a:prstGeom>
          <a:solidFill>
            <a:srgbClr val="F5A623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2084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0840" y="380390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natural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AI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1051560" cy="1280160"/>
          </a:xfrm>
          <a:prstGeom prst="rect">
            <a:avLst/>
          </a:prstGeom>
          <a:solidFill>
            <a:srgbClr val="4F7CFF">
              <a:alpha val="28000"/>
            </a:srgbClr>
          </a:solidFill>
          <a:ln w="10160">
            <a:solidFill>
              <a:srgbClr val="4F7CFF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002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202996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3774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· mov · webm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71600" y="2194560"/>
            <a:ext cx="164592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536192" y="1554480"/>
            <a:ext cx="1051560" cy="1280160"/>
          </a:xfrm>
          <a:prstGeom prst="rect">
            <a:avLst/>
          </a:prstGeom>
          <a:solidFill>
            <a:srgbClr val="4F7CFF">
              <a:alpha val="28000"/>
            </a:srgbClr>
          </a:solidFill>
          <a:ln w="10160">
            <a:solidFill>
              <a:srgbClr val="4F7CFF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6192" y="16002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36192" y="202996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23774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87752" y="2194560"/>
            <a:ext cx="164592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52344" y="1554480"/>
            <a:ext cx="1051560" cy="1280160"/>
          </a:xfrm>
          <a:prstGeom prst="rect">
            <a:avLst/>
          </a:prstGeom>
          <a:solidFill>
            <a:srgbClr val="7B5DFA">
              <a:alpha val="28000"/>
            </a:srgbClr>
          </a:solidFill>
          <a:ln w="10160">
            <a:solidFill>
              <a:srgbClr val="7B5DFA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52344" y="16002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52344" y="202996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52344" y="23774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03904" y="2194560"/>
            <a:ext cx="164592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968496" y="1554480"/>
            <a:ext cx="1051560" cy="1280160"/>
          </a:xfrm>
          <a:prstGeom prst="rect">
            <a:avLst/>
          </a:prstGeom>
          <a:solidFill>
            <a:srgbClr val="7B5DFA">
              <a:alpha val="28000"/>
            </a:srgbClr>
          </a:solidFill>
          <a:ln w="10160">
            <a:solidFill>
              <a:srgbClr val="7B5DFA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68496" y="16002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968496" y="202996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68496" y="23774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(local)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0056" y="2194560"/>
            <a:ext cx="164592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84648" y="1554480"/>
            <a:ext cx="1051560" cy="1280160"/>
          </a:xfrm>
          <a:prstGeom prst="rect">
            <a:avLst/>
          </a:prstGeom>
          <a:solidFill>
            <a:srgbClr val="00D4A8">
              <a:alpha val="28000"/>
            </a:srgbClr>
          </a:solidFill>
          <a:ln w="10160">
            <a:solidFill>
              <a:srgbClr val="00D4A8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4648" y="16002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184648" y="202996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84648" y="23774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1/30s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36208" y="2194560"/>
            <a:ext cx="164592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0" y="1554480"/>
            <a:ext cx="1051560" cy="1280160"/>
          </a:xfrm>
          <a:prstGeom prst="rect">
            <a:avLst/>
          </a:prstGeom>
          <a:solidFill>
            <a:srgbClr val="00D4A8">
              <a:alpha val="28000"/>
            </a:srgbClr>
          </a:solidFill>
          <a:ln w="10160">
            <a:solidFill>
              <a:srgbClr val="00D4A8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6002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0" y="202996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23774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52360" y="2194560"/>
            <a:ext cx="164592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616952" y="1554480"/>
            <a:ext cx="1051560" cy="1280160"/>
          </a:xfrm>
          <a:prstGeom prst="rect">
            <a:avLst/>
          </a:prstGeom>
          <a:solidFill>
            <a:srgbClr val="F5A623">
              <a:alpha val="28000"/>
            </a:srgbClr>
          </a:solidFill>
          <a:ln w="10160">
            <a:solidFill>
              <a:srgbClr val="F5A623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16952" y="16002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616952" y="202996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16952" y="23774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MD · TXT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720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extracts 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560320" y="3108960"/>
            <a:ext cx="192024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00D4A8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0" y="3108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 Summary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3108960"/>
            <a:ext cx="192024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00D4A8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108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858000" y="3108960"/>
            <a:ext cx="192024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00D4A8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3108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+ Owners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560320" y="3584448"/>
            <a:ext cx="192024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00D4A8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0320" y="3584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Chapters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09160" y="3584448"/>
            <a:ext cx="192024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00D4A8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584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Clips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858000" y="3584448"/>
            <a:ext cx="1920240" cy="347472"/>
          </a:xfrm>
          <a:prstGeom prst="rect">
            <a:avLst/>
          </a:prstGeom>
          <a:solidFill>
            <a:srgbClr val="0D1B3E"/>
          </a:solidFill>
          <a:ln w="6350">
            <a:solidFill>
              <a:srgbClr val="00D4A8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3584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Questions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team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14630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27048"/>
            <a:ext cx="502920" cy="502920"/>
          </a:xfrm>
          <a:prstGeom prst="ellipse">
            <a:avLst/>
          </a:prstGeom>
          <a:solidFill>
            <a:srgbClr val="00D4A8">
              <a:alpha val="5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1527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L&amp;D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0756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· Quiz questions · Skill summaries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1417320"/>
            <a:ext cx="2697480" cy="14630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527048"/>
            <a:ext cx="502920" cy="502920"/>
          </a:xfrm>
          <a:prstGeom prst="ellipse">
            <a:avLst/>
          </a:prstGeom>
          <a:solidFill>
            <a:srgbClr val="4F7CFF">
              <a:alpha val="5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78224" y="1527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Talks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0756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 · Code patterns · ADR generation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72784" y="1417320"/>
            <a:ext cx="2697480" cy="14630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82512" y="1527048"/>
            <a:ext cx="502920" cy="502920"/>
          </a:xfrm>
          <a:prstGeom prst="ellipse">
            <a:avLst/>
          </a:prstGeom>
          <a:solidFill>
            <a:srgbClr val="7B5DFA">
              <a:alpha val="5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86016" y="15270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82512" y="20756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· Tools · Key contacts · Process steps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697480" cy="14630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" y="3218688"/>
            <a:ext cx="502920" cy="502920"/>
          </a:xfrm>
          <a:prstGeom prst="ellipse">
            <a:avLst/>
          </a:prstGeom>
          <a:solidFill>
            <a:srgbClr val="F5A623">
              <a:alpha val="5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0432" y="32186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Meetings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767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· Action items + owners · Blockers · Risks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64992" y="3108960"/>
            <a:ext cx="2697480" cy="14630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3218688"/>
            <a:ext cx="502920" cy="502920"/>
          </a:xfrm>
          <a:prstGeom prst="ellipse">
            <a:avLst/>
          </a:prstGeom>
          <a:solidFill>
            <a:srgbClr val="FF6B6B">
              <a:alpha val="5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78224" y="32186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Calls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3767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 · Feedback · Commitments · Next steps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72784" y="3108960"/>
            <a:ext cx="2697480" cy="14630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2512" y="3218688"/>
            <a:ext cx="502920" cy="502920"/>
          </a:xfrm>
          <a:prstGeom prst="ellipse">
            <a:avLst/>
          </a:prstGeom>
          <a:solidFill>
            <a:srgbClr val="00D4A8">
              <a:alpha val="5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86016" y="32186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Interviews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82512" y="3767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clustering · Sentiment · Quote extraction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your team needs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unlock recorded knowledge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663440" y="868680"/>
            <a:ext cx="2057400" cy="118872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0" y="960120"/>
            <a:ext cx="411480" cy="411480"/>
          </a:xfrm>
          <a:prstGeom prst="ellipse">
            <a:avLst/>
          </a:prstGeom>
          <a:solidFill>
            <a:srgbClr val="00D4A8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941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✂️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57800" y="960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Clips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39903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auto-extracts shareable highlight reels — no manual scrubbing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0" y="868680"/>
            <a:ext cx="2057400" cy="118872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0" y="960120"/>
            <a:ext cx="411480" cy="411480"/>
          </a:xfrm>
          <a:prstGeom prst="ellipse">
            <a:avLst/>
          </a:prstGeom>
          <a:solidFill>
            <a:srgbClr val="4F7CFF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941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52360" y="960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Chapters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139903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segmented into named, timestamped chapters automatically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2057400" cy="118872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331720"/>
            <a:ext cx="411480" cy="411480"/>
          </a:xfrm>
          <a:prstGeom prst="ellipse">
            <a:avLst/>
          </a:prstGeom>
          <a:solidFill>
            <a:srgbClr val="7B5DFA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313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331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77063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owns the Kafka task?" — ask anything, get answers with timestamps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0" y="2240280"/>
            <a:ext cx="2057400" cy="118872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2331720"/>
            <a:ext cx="411480" cy="411480"/>
          </a:xfrm>
          <a:prstGeom prst="ellipse">
            <a:avLst/>
          </a:prstGeom>
          <a:solidFill>
            <a:srgbClr val="F5A623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2313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52360" y="2331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Filter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277063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video, tailored views for Dev · Manager · L&amp;D · New Hire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611880"/>
            <a:ext cx="2057400" cy="118872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703320"/>
            <a:ext cx="411480" cy="41148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703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414223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AI-detected risks, decisions, and bookmarks overlaid on timeline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0" y="3611880"/>
            <a:ext cx="2057400" cy="118872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3703320"/>
            <a:ext cx="411480" cy="411480"/>
          </a:xfrm>
          <a:prstGeom prst="ellipse">
            <a:avLst/>
          </a:prstGeom>
          <a:solidFill>
            <a:srgbClr val="00D4A8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📤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52360" y="3703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Anywhere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414223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Markdown, JSON, plain transcript — push to Notion, Jira, Slack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10058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508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recording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34440" y="18928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any .mp4 file — local recording, Zoom export, Loom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4114800" cy="10058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1508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use case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577840" y="18928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Tech Talk / Meeting / Sales / Onboarding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87752"/>
            <a:ext cx="4114800" cy="10058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679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pipeline run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34440" y="3063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7-step progress: Whisper → Frames → Claude AI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587752"/>
            <a:ext cx="4114800" cy="10058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0328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2679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insights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577840" y="3063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· Actions · Smart Clips · Transcript search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58184"/>
            <a:ext cx="4114800" cy="10058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" y="3941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38496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a question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4440" y="4233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owns the migration task?" — gets you a timestamp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758184"/>
            <a:ext cx="4114800" cy="100584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10328" y="3941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77840" y="38496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share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577840" y="4233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Markdown, JSON, or plain transcript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knowledge ROI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141732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32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re-watching the full video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33472" y="1371600"/>
            <a:ext cx="1965960" cy="141732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33472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33472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reuse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33472" y="2432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referenced after upload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9744" y="1371600"/>
            <a:ext cx="1965960" cy="141732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9744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5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min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09744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insights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9744" y="2432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upload to searchable content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86016" y="1371600"/>
            <a:ext cx="1965960" cy="141732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86016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86016" y="2148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86016" y="2432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runs locally, nothing leaves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3063240"/>
          <a:ext cx="5029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669280" y="3108960"/>
            <a:ext cx="3200400" cy="530352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0" y="3163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236208" y="320040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of sessions re-searched within 30 days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669280" y="3767328"/>
            <a:ext cx="3200400" cy="530352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0" y="3822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📤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236208" y="385876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clips shared outside the team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669280" y="4425696"/>
            <a:ext cx="3200400" cy="530352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6072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236208" y="451713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extracted action items completed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993392" cy="3291840"/>
          </a:xfrm>
          <a:prstGeom prst="rect">
            <a:avLst/>
          </a:prstGeom>
          <a:solidFill>
            <a:srgbClr val="1E3666"/>
          </a:solidFill>
          <a:ln w="12700">
            <a:solidFill>
              <a:srgbClr val="4F7CF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1993392" cy="384048"/>
          </a:xfrm>
          <a:prstGeom prst="rect">
            <a:avLst/>
          </a:prstGeom>
          <a:solidFill>
            <a:srgbClr val="4F7CFF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447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Single-page HTML/CSS/JS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5328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Real-time pipeline progress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14553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Transcript search + AI query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581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Library &amp; analytics views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42032" y="1417320"/>
            <a:ext cx="1993392" cy="3291840"/>
          </a:xfrm>
          <a:prstGeom prst="rect">
            <a:avLst/>
          </a:prstGeom>
          <a:solidFill>
            <a:srgbClr val="1E3666"/>
          </a:solidFill>
          <a:ln w="12700">
            <a:solidFill>
              <a:srgbClr val="7B5DFA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1417320"/>
            <a:ext cx="1993392" cy="384048"/>
          </a:xfrm>
          <a:prstGeom prst="rect">
            <a:avLst/>
          </a:prstGeom>
          <a:solidFill>
            <a:srgbClr val="7B5DFA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14447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33472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REST API + Background tasks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33472" y="25328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Job queue (in-memory)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33472" y="314553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File management (uploads / outputs)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33472" y="37581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CORS + streaming support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18304" y="1417320"/>
            <a:ext cx="1993392" cy="3291840"/>
          </a:xfrm>
          <a:prstGeom prst="rect">
            <a:avLst/>
          </a:prstGeom>
          <a:solidFill>
            <a:srgbClr val="1E3666"/>
          </a:solidFill>
          <a:ln w="12700">
            <a:solidFill>
              <a:srgbClr val="00D4A8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18304" y="1417320"/>
            <a:ext cx="1993392" cy="384048"/>
          </a:xfrm>
          <a:prstGeom prst="rect">
            <a:avLst/>
          </a:prstGeom>
          <a:solidFill>
            <a:srgbClr val="00D4A8">
              <a:alpha val="7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18304" y="14447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9744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Whisper — local transcription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9744" y="25328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Claude Sonnet — AI analysis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9744" y="314553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OpenCV — frame extraction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9744" y="37581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FFmpeg — audio extraction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94576" y="1417320"/>
            <a:ext cx="1993392" cy="3291840"/>
          </a:xfrm>
          <a:prstGeom prst="rect">
            <a:avLst/>
          </a:prstGeom>
          <a:solidFill>
            <a:srgbClr val="1E3666"/>
          </a:solidFill>
          <a:ln w="12700">
            <a:solidFill>
              <a:srgbClr val="F5A623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94576" y="1417320"/>
            <a:ext cx="1993392" cy="384048"/>
          </a:xfrm>
          <a:prstGeom prst="rect">
            <a:avLst/>
          </a:prstGeom>
          <a:solidFill>
            <a:srgbClr val="F5A623">
              <a:alpha val="7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894576" y="14447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86016" y="1920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results.json (full data)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86016" y="25328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insights.md (human-readable)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86016" y="314553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transcript.txt (plain text)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86016" y="37581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Frame images (JPEG)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processing uses the Anthropic API (Claude Sonnet). Transcription is fully local — no audio or video leaves your machine.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4F7CF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0D4A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3200400"/>
            <a:ext cx="2743200" cy="2743200"/>
          </a:xfrm>
          <a:prstGeom prst="ellipse">
            <a:avLst/>
          </a:prstGeom>
          <a:solidFill>
            <a:srgbClr val="7B5DF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unlock your</a:t>
            </a:r>
            <a:endParaRPr lang="en-US" sz="38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knowledge?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setup. Works on any laptop. No cloud data. Full AI power.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2697480"/>
            <a:ext cx="2103120" cy="141732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816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⬇️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3291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videoiq.zip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86200" y="2697480"/>
            <a:ext cx="2103120" cy="141732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86200" y="2816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86200" y="3291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8620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start.py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2697480"/>
            <a:ext cx="2103120" cy="1417320"/>
          </a:xfrm>
          <a:prstGeom prst="rect">
            <a:avLst/>
          </a:prstGeom>
          <a:solidFill>
            <a:srgbClr val="1E3666"/>
          </a:solidFill>
          <a:ln w="635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2816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3291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Python 3.9+  ·  FFmpeg  ·  Anthropic API key (free tier available)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pPr algn="ctr" indent="0" marL="0">
              <a:buNone/>
            </a:pPr>
            <a:r>
              <a:rPr lang="en-US" sz="11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</a:t>
            </a:r>
            <a:pPr algn="ctr" indent="0" marL="0">
              <a:buNone/>
            </a:pPr>
            <a:r>
              <a:rPr lang="en-US" sz="1100" dirty="0">
                <a:solidFill>
                  <a:srgbClr val="8B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Transform recordings into institutional knowledge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VideoIQ — AI-Powered Video Insights Platform</dc:title>
  <dc:subject>PptxGenJS Presentation</dc:subject>
  <dc:creator>Innovation Seminar</dc:creator>
  <cp:lastModifiedBy>Innovation Seminar</cp:lastModifiedBy>
  <cp:revision>1</cp:revision>
  <dcterms:created xsi:type="dcterms:W3CDTF">2026-05-19T03:21:19Z</dcterms:created>
  <dcterms:modified xsi:type="dcterms:W3CDTF">2026-05-19T03:21:19Z</dcterms:modified>
</cp:coreProperties>
</file>